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10287000" cx="18288000"/>
  <p:notesSz cx="6858000" cy="9144000"/>
  <p:embeddedFontLst>
    <p:embeddedFont>
      <p:font typeface="Arimo"/>
      <p:bold r:id="rId24"/>
      <p:boldItalic r:id="rId25"/>
    </p:embeddedFont>
    <p:embeddedFont>
      <p:font typeface="Shrikhand"/>
      <p:regular r:id="rId26"/>
    </p:embeddedFont>
    <p:embeddedFont>
      <p:font typeface="Big Shoulders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rimo-bold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hrikhand-regular.fntdata"/><Relationship Id="rId25" Type="http://schemas.openxmlformats.org/officeDocument/2006/relationships/font" Target="fonts/Arimo-boldItalic.fntdata"/><Relationship Id="rId28" Type="http://schemas.openxmlformats.org/officeDocument/2006/relationships/font" Target="fonts/BigShoulders-bold.fntdata"/><Relationship Id="rId27" Type="http://schemas.openxmlformats.org/officeDocument/2006/relationships/font" Target="fonts/BigShoulder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3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3"/>
          <p:cNvSpPr/>
          <p:nvPr/>
        </p:nvSpPr>
        <p:spPr>
          <a:xfrm>
            <a:off x="-15002" y="-3"/>
            <a:ext cx="6104859" cy="10287000"/>
          </a:xfrm>
          <a:custGeom>
            <a:rect b="b" l="l" r="r" t="t"/>
            <a:pathLst>
              <a:path extrusionOk="0" h="13716000" w="8139811">
                <a:moveTo>
                  <a:pt x="0" y="0"/>
                </a:moveTo>
                <a:lnTo>
                  <a:pt x="8139811" y="0"/>
                </a:lnTo>
                <a:lnTo>
                  <a:pt x="813981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grpSp>
        <p:nvGrpSpPr>
          <p:cNvPr id="86" name="Google Shape;86;p13"/>
          <p:cNvGrpSpPr/>
          <p:nvPr/>
        </p:nvGrpSpPr>
        <p:grpSpPr>
          <a:xfrm>
            <a:off x="465058" y="960120"/>
            <a:ext cx="5144786" cy="8419856"/>
            <a:chOff x="0" y="0"/>
            <a:chExt cx="6859714" cy="11226474"/>
          </a:xfrm>
        </p:grpSpPr>
        <p:sp>
          <p:nvSpPr>
            <p:cNvPr id="87" name="Google Shape;87;p13"/>
            <p:cNvSpPr/>
            <p:nvPr/>
          </p:nvSpPr>
          <p:spPr>
            <a:xfrm>
              <a:off x="0" y="0"/>
              <a:ext cx="6859710" cy="11226474"/>
            </a:xfrm>
            <a:custGeom>
              <a:rect b="b" l="l" r="r" t="t"/>
              <a:pathLst>
                <a:path extrusionOk="0" h="11226474" w="6859710">
                  <a:moveTo>
                    <a:pt x="0" y="0"/>
                  </a:moveTo>
                  <a:lnTo>
                    <a:pt x="6859710" y="0"/>
                  </a:lnTo>
                  <a:lnTo>
                    <a:pt x="685971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59978" r="-159978" t="0"/>
              </a:stretch>
            </a:blipFill>
            <a:ln>
              <a:noFill/>
            </a:ln>
          </p:spPr>
        </p:sp>
        <p:sp>
          <p:nvSpPr>
            <p:cNvPr id="88" name="Google Shape;88;p13"/>
            <p:cNvSpPr txBox="1"/>
            <p:nvPr/>
          </p:nvSpPr>
          <p:spPr>
            <a:xfrm>
              <a:off x="0" y="152400"/>
              <a:ext cx="6859714" cy="11074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7095450" y="3214647"/>
            <a:ext cx="10666800" cy="3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4316" lvl="1" marL="488633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Project Title: </a:t>
            </a:r>
            <a:r>
              <a:rPr lang="en-US" sz="2700">
                <a:latin typeface="Arimo"/>
                <a:ea typeface="Arimo"/>
                <a:cs typeface="Arimo"/>
                <a:sym typeface="Arimo"/>
              </a:rPr>
              <a:t>Visitor Entry Logging and Security Monitoring System</a:t>
            </a:r>
            <a:endParaRPr sz="2700">
              <a:latin typeface="Arimo"/>
              <a:ea typeface="Arimo"/>
              <a:cs typeface="Arimo"/>
              <a:sym typeface="Arimo"/>
            </a:endParaRPr>
          </a:p>
          <a:p>
            <a:pPr indent="-244316" lvl="1" marL="488632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Course: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Java Programming Mini Project</a:t>
            </a:r>
            <a:endParaRPr/>
          </a:p>
          <a:p>
            <a:pPr indent="-244316" lvl="1" marL="488632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Student Name &amp; Roll No: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>
                <a:latin typeface="Arimo"/>
                <a:ea typeface="Arimo"/>
                <a:cs typeface="Arimo"/>
                <a:sym typeface="Arimo"/>
              </a:rPr>
              <a:t>Nivetha k [25BCS039]</a:t>
            </a:r>
            <a:endParaRPr/>
          </a:p>
          <a:p>
            <a:pPr indent="-244316" lvl="1" marL="488632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Department: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Computer Science </a:t>
            </a:r>
            <a:endParaRPr/>
          </a:p>
          <a:p>
            <a:pPr indent="-244316" lvl="1" marL="488632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Mentor / Guide: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Dr.Boopalan Sundaramoorthy</a:t>
            </a:r>
            <a:endParaRPr/>
          </a:p>
        </p:txBody>
      </p:sp>
      <p:sp>
        <p:nvSpPr>
          <p:cNvPr descr="A blue and red logo  AI-generated content may be incorrect." id="90" name="Google Shape;90;p13"/>
          <p:cNvSpPr/>
          <p:nvPr/>
        </p:nvSpPr>
        <p:spPr>
          <a:xfrm>
            <a:off x="7049729" y="349996"/>
            <a:ext cx="10115836" cy="2528983"/>
          </a:xfrm>
          <a:custGeom>
            <a:rect b="b" l="l" r="r" t="t"/>
            <a:pathLst>
              <a:path extrusionOk="0" h="3371977" w="13487781">
                <a:moveTo>
                  <a:pt x="0" y="0"/>
                </a:moveTo>
                <a:lnTo>
                  <a:pt x="13487781" y="0"/>
                </a:lnTo>
                <a:lnTo>
                  <a:pt x="13487781" y="3371977"/>
                </a:lnTo>
                <a:lnTo>
                  <a:pt x="0" y="3371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14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7" name="Google Shape;97;p14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98" name="Google Shape;98;p14"/>
          <p:cNvGrpSpPr/>
          <p:nvPr/>
        </p:nvGrpSpPr>
        <p:grpSpPr>
          <a:xfrm>
            <a:off x="5203993" y="1182624"/>
            <a:ext cx="11884896" cy="2249424"/>
            <a:chOff x="0" y="0"/>
            <a:chExt cx="15846529" cy="2999232"/>
          </a:xfrm>
        </p:grpSpPr>
        <p:sp>
          <p:nvSpPr>
            <p:cNvPr id="99" name="Google Shape;99;p14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100" name="Google Shape;100;p14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Introduction</a:t>
              </a:r>
              <a:endParaRPr/>
            </a:p>
          </p:txBody>
        </p:sp>
      </p:grpSp>
      <p:sp>
        <p:nvSpPr>
          <p:cNvPr id="101" name="Google Shape;101;p14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102" name="Google Shape;102;p14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4"/>
          <p:cNvSpPr txBox="1"/>
          <p:nvPr/>
        </p:nvSpPr>
        <p:spPr>
          <a:xfrm>
            <a:off x="4666025" y="2615850"/>
            <a:ext cx="11793600" cy="6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rgbClr val="6FA8D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FA8D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9" u="none" cap="none" strike="noStrike">
                <a:solidFill>
                  <a:srgbClr val="9FC5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 of the Project and its Purpose:</a:t>
            </a:r>
            <a:endParaRPr>
              <a:solidFill>
                <a:srgbClr val="9FC5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199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31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Java-based system designed to record and manage visitor details and monitor entry and exit in an organization.</a:t>
            </a:r>
            <a:endParaRPr sz="31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99">
              <a:solidFill>
                <a:srgbClr val="9FC5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9" u="none" cap="none" strike="noStrike">
                <a:solidFill>
                  <a:srgbClr val="9FC5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Background and Motivation:</a:t>
            </a:r>
            <a:endParaRPr>
              <a:solidFill>
                <a:srgbClr val="9FC5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199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31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visitor logbooks are slow, difficult to manage, and may lead to missing or incorrect records.</a:t>
            </a:r>
            <a:endParaRPr sz="31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199" u="none" cap="none" strike="noStrike">
              <a:solidFill>
                <a:srgbClr val="9FC5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9" u="none" cap="none" strike="noStrike">
                <a:solidFill>
                  <a:srgbClr val="9FC5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Significance of the Project in Solving Real-World Issues:</a:t>
            </a:r>
            <a:endParaRPr>
              <a:solidFill>
                <a:srgbClr val="9FC5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Provides a secure digital system that improves visitor tracking, reduces manual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1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104" name="Google Shape;104;p14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105" name="Google Shape;105;p14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112;p15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4" name="Google Shape;114;p15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115" name="Google Shape;115;p15"/>
          <p:cNvGrpSpPr/>
          <p:nvPr/>
        </p:nvGrpSpPr>
        <p:grpSpPr>
          <a:xfrm>
            <a:off x="5203993" y="1182624"/>
            <a:ext cx="11884896" cy="2249424"/>
            <a:chOff x="0" y="0"/>
            <a:chExt cx="15846529" cy="2999232"/>
          </a:xfrm>
        </p:grpSpPr>
        <p:sp>
          <p:nvSpPr>
            <p:cNvPr id="116" name="Google Shape;116;p15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117" name="Google Shape;117;p15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Objective</a:t>
              </a:r>
              <a:endParaRPr/>
            </a:p>
          </p:txBody>
        </p:sp>
      </p:grpSp>
      <p:sp>
        <p:nvSpPr>
          <p:cNvPr id="118" name="Google Shape;118;p15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119" name="Google Shape;119;p15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15"/>
          <p:cNvSpPr txBox="1"/>
          <p:nvPr/>
        </p:nvSpPr>
        <p:spPr>
          <a:xfrm>
            <a:off x="4796511" y="3267573"/>
            <a:ext cx="11793600" cy="52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To develop a Java-based Visitor Entry Logging and Security Monitoring System.</a:t>
            </a:r>
            <a:endParaRPr sz="3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To apply core programming concepts such as classes, objects, GUI, and event handling.</a:t>
            </a:r>
            <a:endParaRPr sz="3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To maintain organized visitor records and generate reports to reduce manual work.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A blue and red logo  AI-generated content may be incorrect." id="121" name="Google Shape;121;p15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122" name="Google Shape;122;p15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124" name="Google Shape;124;p15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16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1" name="Google Shape;131;p16"/>
          <p:cNvSpPr/>
          <p:nvPr/>
        </p:nvSpPr>
        <p:spPr>
          <a:xfrm>
            <a:off x="401070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132" name="Google Shape;132;p16"/>
          <p:cNvGrpSpPr/>
          <p:nvPr/>
        </p:nvGrpSpPr>
        <p:grpSpPr>
          <a:xfrm>
            <a:off x="5163413" y="884901"/>
            <a:ext cx="11884897" cy="2249424"/>
            <a:chOff x="0" y="0"/>
            <a:chExt cx="15846529" cy="2999232"/>
          </a:xfrm>
        </p:grpSpPr>
        <p:sp>
          <p:nvSpPr>
            <p:cNvPr id="133" name="Google Shape;133;p16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134" name="Google Shape;134;p16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Problem Statement</a:t>
              </a:r>
              <a:endParaRPr/>
            </a:p>
          </p:txBody>
        </p:sp>
      </p:grpSp>
      <p:sp>
        <p:nvSpPr>
          <p:cNvPr id="135" name="Google Shape;135;p16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136" name="Google Shape;136;p16"/>
          <p:cNvCxnSpPr/>
          <p:nvPr/>
        </p:nvCxnSpPr>
        <p:spPr>
          <a:xfrm flipH="1" rot="10800000">
            <a:off x="4877671" y="1225005"/>
            <a:ext cx="28572" cy="1400179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16"/>
          <p:cNvSpPr txBox="1"/>
          <p:nvPr/>
        </p:nvSpPr>
        <p:spPr>
          <a:xfrm>
            <a:off x="4291700" y="2625174"/>
            <a:ext cx="11793600" cy="7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A4C2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Issue / Gap:</a:t>
            </a:r>
            <a:endParaRPr sz="2800">
              <a:solidFill>
                <a:srgbClr val="A4C2F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Manual visitor entry makes tracking difficult.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A4C2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/ Inefficiencies:</a:t>
            </a:r>
            <a:endParaRPr sz="2800">
              <a:solidFill>
                <a:srgbClr val="A4C2F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Time-consuming process</a:t>
            </a:r>
            <a:endParaRPr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Errors in visitor records</a:t>
            </a:r>
            <a:endParaRPr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Difficult to track entry and exit time</a:t>
            </a:r>
            <a:endParaRPr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Hard to manage many visitors</a:t>
            </a:r>
            <a:endParaRPr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800" u="none" cap="none" strike="noStrike">
              <a:solidFill>
                <a:srgbClr val="9FC5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9FC5E8"/>
                </a:solidFill>
                <a:latin typeface="Arimo"/>
                <a:ea typeface="Arimo"/>
                <a:cs typeface="Arimo"/>
                <a:sym typeface="Arimo"/>
              </a:rPr>
              <a:t>How the Project Solves It:</a:t>
            </a:r>
            <a:endParaRPr sz="2800">
              <a:solidFill>
                <a:srgbClr val="9FC5E8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QR code generated for each visitor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QR scan records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entry time</a:t>
            </a:r>
            <a:endParaRPr b="1"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Second scan records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exit time</a:t>
            </a:r>
            <a:endParaRPr b="1"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Fast and accurate visitor tracking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Easy data management and monitoring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138" name="Google Shape;138;p16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139" name="Google Shape;139;p16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140" name="Google Shape;140;p16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141" name="Google Shape;141;p16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17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8" name="Google Shape;148;p17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149" name="Google Shape;149;p17"/>
          <p:cNvGrpSpPr/>
          <p:nvPr/>
        </p:nvGrpSpPr>
        <p:grpSpPr>
          <a:xfrm>
            <a:off x="5203993" y="1182624"/>
            <a:ext cx="11884896" cy="2249424"/>
            <a:chOff x="0" y="0"/>
            <a:chExt cx="15846529" cy="2999232"/>
          </a:xfrm>
        </p:grpSpPr>
        <p:sp>
          <p:nvSpPr>
            <p:cNvPr id="150" name="Google Shape;150;p17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151" name="Google Shape;151;p17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System Requirements</a:t>
              </a:r>
              <a:endParaRPr/>
            </a:p>
          </p:txBody>
        </p:sp>
      </p:grpSp>
      <p:sp>
        <p:nvSpPr>
          <p:cNvPr id="152" name="Google Shape;152;p17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153" name="Google Shape;153;p17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17"/>
          <p:cNvSpPr txBox="1"/>
          <p:nvPr/>
        </p:nvSpPr>
        <p:spPr>
          <a:xfrm>
            <a:off x="4572000" y="3429000"/>
            <a:ext cx="12471300" cy="6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9FC5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Requirements:</a:t>
            </a:r>
            <a:b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Computer / Laptop with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4GB RAM or higher</a:t>
            </a:r>
            <a:b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Processor: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 i3 / i5 or equivalent</a:t>
            </a:r>
            <a:b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Storage: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250GB Hard Disk</a:t>
            </a:r>
            <a:b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Webcam or Camera</a:t>
            </a: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QR Code scanning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9FC5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Requirements:</a:t>
            </a:r>
            <a:br>
              <a:rPr b="1" lang="en-US" sz="2800">
                <a:solidFill>
                  <a:srgbClr val="9FC5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rgbClr val="9FC5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Operating System: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Windows 10 / Windows 11</a:t>
            </a:r>
            <a:b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Programming Language: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</a:t>
            </a:r>
            <a:b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Development Tool: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Eclipse IDE</a:t>
            </a:r>
            <a:b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JDK (Java Development Kit)</a:t>
            </a:r>
            <a:b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External Libraries: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ZXing (QR Code), iText (PDF), JFreeChart (Graphs)</a:t>
            </a:r>
            <a:endParaRPr b="1"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F4FBFE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155" name="Google Shape;155;p17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156" name="Google Shape;156;p17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157" name="Google Shape;157;p17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158" name="Google Shape;158;p17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" name="Google Shape;163;p18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5" name="Google Shape;165;p18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166" name="Google Shape;166;p18"/>
          <p:cNvGrpSpPr/>
          <p:nvPr/>
        </p:nvGrpSpPr>
        <p:grpSpPr>
          <a:xfrm>
            <a:off x="5269243" y="884899"/>
            <a:ext cx="11884897" cy="2249424"/>
            <a:chOff x="0" y="0"/>
            <a:chExt cx="15846529" cy="2999232"/>
          </a:xfrm>
        </p:grpSpPr>
        <p:sp>
          <p:nvSpPr>
            <p:cNvPr id="167" name="Google Shape;167;p18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168" name="Google Shape;168;p18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System Design</a:t>
              </a:r>
              <a:endParaRPr/>
            </a:p>
          </p:txBody>
        </p:sp>
      </p:grpSp>
      <p:sp>
        <p:nvSpPr>
          <p:cNvPr id="169" name="Google Shape;169;p18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170" name="Google Shape;170;p18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8"/>
          <p:cNvSpPr txBox="1"/>
          <p:nvPr/>
        </p:nvSpPr>
        <p:spPr>
          <a:xfrm>
            <a:off x="4687786" y="3134327"/>
            <a:ext cx="11793600" cy="7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9FC5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Structure &amp; Workflow:</a:t>
            </a:r>
            <a:endParaRPr sz="2800">
              <a:solidFill>
                <a:srgbClr val="9FC5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records visitor details and captures a photo using the camera. A QR code is generated for the visitor. The QR code is scanned at entry and exit to record the time and maintain visitor records.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800" u="none" cap="none" strike="noStrike">
              <a:solidFill>
                <a:srgbClr val="9FC5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9FC5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Outline:</a:t>
            </a:r>
            <a:endParaRPr sz="2800">
              <a:solidFill>
                <a:srgbClr val="9FC5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• Start the system</a:t>
            </a:r>
            <a:endParaRPr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Enter visitor details</a:t>
            </a:r>
            <a:endParaRPr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Capture visitor photo</a:t>
            </a:r>
            <a:endParaRPr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Generate QR code</a:t>
            </a:r>
            <a:endParaRPr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Scan QR at entry → record entry time</a:t>
            </a:r>
            <a:endParaRPr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Scan QR at exit → record exit time</a:t>
            </a:r>
            <a:endParaRPr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Store visitor records</a:t>
            </a:r>
            <a:endParaRPr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End the system</a:t>
            </a:r>
            <a:endParaRPr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172" name="Google Shape;172;p18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173" name="Google Shape;173;p18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174" name="Google Shape;174;p18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175" name="Google Shape;175;p18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19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1" name="Google Shape;181;p19"/>
          <p:cNvGrpSpPr/>
          <p:nvPr/>
        </p:nvGrpSpPr>
        <p:grpSpPr>
          <a:xfrm>
            <a:off x="5203993" y="1182624"/>
            <a:ext cx="11884896" cy="2249424"/>
            <a:chOff x="0" y="0"/>
            <a:chExt cx="15846529" cy="2999232"/>
          </a:xfrm>
        </p:grpSpPr>
        <p:sp>
          <p:nvSpPr>
            <p:cNvPr id="182" name="Google Shape;182;p19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183" name="Google Shape;183;p19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0" u="none" cap="none" strike="noStrike">
                  <a:solidFill>
                    <a:srgbClr val="000000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System Design</a:t>
              </a:r>
              <a:endParaRPr/>
            </a:p>
          </p:txBody>
        </p:sp>
      </p:grpSp>
      <p:sp>
        <p:nvSpPr>
          <p:cNvPr id="184" name="Google Shape;184;p19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185" name="Google Shape;185;p19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A blue and red logo  AI-generated content may be incorrect." id="186" name="Google Shape;186;p19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187" name="Google Shape;187;p19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188" name="Google Shape;188;p19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189" name="Google Shape;189;p19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  <p:sp>
        <p:nvSpPr>
          <p:cNvPr id="190" name="Google Shape;190;p19"/>
          <p:cNvSpPr txBox="1"/>
          <p:nvPr/>
        </p:nvSpPr>
        <p:spPr>
          <a:xfrm>
            <a:off x="4369162" y="3336798"/>
            <a:ext cx="4071342" cy="804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 Diagram</a:t>
            </a:r>
            <a:endParaRPr/>
          </a:p>
        </p:txBody>
      </p:sp>
      <p:pic>
        <p:nvPicPr>
          <p:cNvPr id="191" name="Google Shape;19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4000" y="4293750"/>
            <a:ext cx="12131399" cy="501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Google Shape;196;p20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8" name="Google Shape;198;p20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199" name="Google Shape;199;p20"/>
          <p:cNvGrpSpPr/>
          <p:nvPr/>
        </p:nvGrpSpPr>
        <p:grpSpPr>
          <a:xfrm>
            <a:off x="4927808" y="909950"/>
            <a:ext cx="11884897" cy="2249424"/>
            <a:chOff x="0" y="0"/>
            <a:chExt cx="15846529" cy="2999232"/>
          </a:xfrm>
        </p:grpSpPr>
        <p:sp>
          <p:nvSpPr>
            <p:cNvPr id="200" name="Google Shape;200;p20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201" name="Google Shape;201;p20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Module Description</a:t>
              </a:r>
              <a:endParaRPr/>
            </a:p>
          </p:txBody>
        </p:sp>
      </p:grpSp>
      <p:sp>
        <p:nvSpPr>
          <p:cNvPr id="202" name="Google Shape;202;p20"/>
          <p:cNvSpPr/>
          <p:nvPr/>
        </p:nvSpPr>
        <p:spPr>
          <a:xfrm>
            <a:off x="712727" y="726948"/>
            <a:ext cx="3193447" cy="8821388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203" name="Google Shape;203;p20"/>
          <p:cNvCxnSpPr/>
          <p:nvPr/>
        </p:nvCxnSpPr>
        <p:spPr>
          <a:xfrm flipH="1" rot="10800000">
            <a:off x="4695060" y="1334566"/>
            <a:ext cx="28572" cy="1400179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20"/>
          <p:cNvSpPr txBox="1"/>
          <p:nvPr/>
        </p:nvSpPr>
        <p:spPr>
          <a:xfrm>
            <a:off x="4470409" y="2734743"/>
            <a:ext cx="12246600" cy="6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700" u="none" cap="none" strike="noStrike">
                <a:solidFill>
                  <a:srgbClr val="A4C2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0" lang="en-US" sz="2700" u="none" cap="none" strike="noStrike">
                <a:solidFill>
                  <a:srgbClr val="A4C2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nput Module:</a:t>
            </a:r>
            <a:endParaRPr sz="2700">
              <a:solidFill>
                <a:srgbClr val="A4C2F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module collects visitor information such as name, purpose of visit, and other required details.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7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9FC5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Module:</a:t>
            </a:r>
            <a:endParaRPr sz="2700">
              <a:solidFill>
                <a:srgbClr val="9FC5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module processes the visitor data, captures the visitor photo using the camera, and generates a QR code for identification.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7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9FC5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Module:</a:t>
            </a:r>
            <a:endParaRPr sz="2700">
              <a:solidFill>
                <a:srgbClr val="9FC5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.This module displays visitor details, entry and exit time, and generates visitor records or reports.</a:t>
            </a:r>
            <a:endParaRPr i="0" sz="27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723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rgbClr val="9FC5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Handling Module:</a:t>
            </a:r>
            <a:endParaRPr b="1" sz="2700">
              <a:solidFill>
                <a:srgbClr val="9FC5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72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module stores visitor details, captured photos, QR codes, and reports in files so that the data can be accessed later.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A blue and red logo  AI-generated content may be incorrect." id="205" name="Google Shape;205;p20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206" name="Google Shape;206;p20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207" name="Google Shape;207;p20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208" name="Google Shape;208;p20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3" name="Google Shape;213;p21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5" name="Google Shape;215;p21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216" name="Google Shape;216;p21"/>
          <p:cNvGrpSpPr/>
          <p:nvPr/>
        </p:nvGrpSpPr>
        <p:grpSpPr>
          <a:xfrm>
            <a:off x="5249713" y="1182624"/>
            <a:ext cx="11839176" cy="2249424"/>
            <a:chOff x="0" y="0"/>
            <a:chExt cx="15785568" cy="2999232"/>
          </a:xfrm>
        </p:grpSpPr>
        <p:sp>
          <p:nvSpPr>
            <p:cNvPr id="217" name="Google Shape;217;p21"/>
            <p:cNvSpPr/>
            <p:nvPr/>
          </p:nvSpPr>
          <p:spPr>
            <a:xfrm>
              <a:off x="0" y="0"/>
              <a:ext cx="15785568" cy="2999232"/>
            </a:xfrm>
            <a:custGeom>
              <a:rect b="b" l="l" r="r" t="t"/>
              <a:pathLst>
                <a:path extrusionOk="0" h="2999232" w="15785568">
                  <a:moveTo>
                    <a:pt x="0" y="0"/>
                  </a:moveTo>
                  <a:lnTo>
                    <a:pt x="15785568" y="0"/>
                  </a:lnTo>
                  <a:lnTo>
                    <a:pt x="15785568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-386" t="-52948"/>
              </a:stretch>
            </a:blipFill>
            <a:ln>
              <a:noFill/>
            </a:ln>
          </p:spPr>
        </p:sp>
        <p:sp>
          <p:nvSpPr>
            <p:cNvPr id="218" name="Google Shape;218;p21"/>
            <p:cNvSpPr txBox="1"/>
            <p:nvPr/>
          </p:nvSpPr>
          <p:spPr>
            <a:xfrm>
              <a:off x="0" y="152400"/>
              <a:ext cx="1578556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Algorithm </a:t>
              </a:r>
              <a:endParaRPr/>
            </a:p>
          </p:txBody>
        </p:sp>
      </p:grpSp>
      <p:sp>
        <p:nvSpPr>
          <p:cNvPr id="219" name="Google Shape;219;p21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220" name="Google Shape;220;p21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21"/>
          <p:cNvSpPr txBox="1"/>
          <p:nvPr/>
        </p:nvSpPr>
        <p:spPr>
          <a:xfrm>
            <a:off x="4796511" y="3694176"/>
            <a:ext cx="11793600" cy="3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Start the system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Enter visitor details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Capture visitor photo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Generate QR code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Scan QR at entry → record entry time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Scan QR at exit → record exit time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Store visitor records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End the system</a:t>
            </a:r>
            <a:endParaRPr sz="3499">
              <a:solidFill>
                <a:srgbClr val="1CADE4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222" name="Google Shape;222;p21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223" name="Google Shape;223;p21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224" name="Google Shape;224;p21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225" name="Google Shape;225;p21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0" name="Google Shape;230;p22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1" name="Google Shape;231;p22"/>
          <p:cNvGrpSpPr/>
          <p:nvPr/>
        </p:nvGrpSpPr>
        <p:grpSpPr>
          <a:xfrm>
            <a:off x="5203993" y="209660"/>
            <a:ext cx="11884896" cy="2249424"/>
            <a:chOff x="0" y="0"/>
            <a:chExt cx="15846529" cy="2999232"/>
          </a:xfrm>
        </p:grpSpPr>
        <p:sp>
          <p:nvSpPr>
            <p:cNvPr id="232" name="Google Shape;232;p22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233" name="Google Shape;233;p22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000000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 Flowchart</a:t>
              </a:r>
              <a:endParaRPr/>
            </a:p>
          </p:txBody>
        </p:sp>
      </p:grpSp>
      <p:sp>
        <p:nvSpPr>
          <p:cNvPr id="234" name="Google Shape;234;p22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235" name="Google Shape;235;p22"/>
          <p:cNvCxnSpPr/>
          <p:nvPr/>
        </p:nvCxnSpPr>
        <p:spPr>
          <a:xfrm flipH="1" rot="10800000">
            <a:off x="4846614" y="634282"/>
            <a:ext cx="28572" cy="1400179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A blue and red logo  AI-generated content may be incorrect." id="236" name="Google Shape;236;p22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237" name="Google Shape;237;p22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238" name="Google Shape;238;p22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239" name="Google Shape;239;p22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  <p:pic>
        <p:nvPicPr>
          <p:cNvPr id="240" name="Google Shape;24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6150" y="2034450"/>
            <a:ext cx="8438375" cy="751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Google Shape;245;p23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7" name="Google Shape;247;p23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248" name="Google Shape;248;p23"/>
          <p:cNvGrpSpPr/>
          <p:nvPr/>
        </p:nvGrpSpPr>
        <p:grpSpPr>
          <a:xfrm>
            <a:off x="5203993" y="1182624"/>
            <a:ext cx="11884896" cy="2249424"/>
            <a:chOff x="0" y="0"/>
            <a:chExt cx="15846529" cy="2999232"/>
          </a:xfrm>
        </p:grpSpPr>
        <p:sp>
          <p:nvSpPr>
            <p:cNvPr id="249" name="Google Shape;249;p23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250" name="Google Shape;250;p23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Implementation</a:t>
              </a:r>
              <a:endParaRPr/>
            </a:p>
          </p:txBody>
        </p:sp>
      </p:grpSp>
      <p:sp>
        <p:nvSpPr>
          <p:cNvPr id="251" name="Google Shape;251;p23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252" name="Google Shape;252;p23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23"/>
          <p:cNvSpPr txBox="1"/>
          <p:nvPr/>
        </p:nvSpPr>
        <p:spPr>
          <a:xfrm>
            <a:off x="4572011" y="2820398"/>
            <a:ext cx="11793600" cy="75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Visitor Entry Logging and Security Monitoring System</a:t>
            </a: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implemented using programming techniques that help manage visitor data and monitor entry and exit efficiently.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9FC5E8"/>
                </a:solidFill>
                <a:latin typeface="Arimo"/>
                <a:ea typeface="Arimo"/>
                <a:cs typeface="Arimo"/>
                <a:sym typeface="Arimo"/>
              </a:rPr>
              <a:t>Techniques Used:</a:t>
            </a:r>
            <a:endParaRPr>
              <a:solidFill>
                <a:srgbClr val="9FC5E8"/>
              </a:solidFill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Loops and conditional statements</a:t>
            </a: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used to control the system operations such as adding visitor details and scanning QR codes.</a:t>
            </a:r>
            <a:b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and methods</a:t>
            </a: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used to organize the program and manage visitor information effectively.</a:t>
            </a:r>
            <a:b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integration and QR code generation</a:t>
            </a: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used to capture visitor photos and create QR codes for entry and exit tracking.</a:t>
            </a:r>
            <a:b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handling</a:t>
            </a: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used to store visitor records, photos, and reports for future reference.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972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254" name="Google Shape;254;p23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255" name="Google Shape;255;p23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256" name="Google Shape;256;p23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257" name="Google Shape;257;p23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2" name="Google Shape;262;p24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3" name="Google Shape;263;p24"/>
          <p:cNvGrpSpPr/>
          <p:nvPr/>
        </p:nvGrpSpPr>
        <p:grpSpPr>
          <a:xfrm>
            <a:off x="5224283" y="726948"/>
            <a:ext cx="11884896" cy="2249424"/>
            <a:chOff x="0" y="0"/>
            <a:chExt cx="15846529" cy="2999232"/>
          </a:xfrm>
        </p:grpSpPr>
        <p:sp>
          <p:nvSpPr>
            <p:cNvPr id="264" name="Google Shape;264;p24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265" name="Google Shape;265;p24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0" u="none" cap="none" strike="noStrike">
                  <a:solidFill>
                    <a:srgbClr val="000000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Output Screens</a:t>
              </a:r>
              <a:endParaRPr/>
            </a:p>
          </p:txBody>
        </p:sp>
      </p:grpSp>
      <p:sp>
        <p:nvSpPr>
          <p:cNvPr id="266" name="Google Shape;266;p24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267" name="Google Shape;267;p24"/>
          <p:cNvCxnSpPr/>
          <p:nvPr/>
        </p:nvCxnSpPr>
        <p:spPr>
          <a:xfrm flipH="1" rot="10800000">
            <a:off x="5009233" y="1151571"/>
            <a:ext cx="28572" cy="1400179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A blue and red logo  AI-generated content may be incorrect." id="268" name="Google Shape;268;p24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269" name="Google Shape;269;p24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270" name="Google Shape;270;p24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271" name="Google Shape;271;p24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  <p:sp>
        <p:nvSpPr>
          <p:cNvPr id="272" name="Google Shape;272;p24"/>
          <p:cNvSpPr txBox="1"/>
          <p:nvPr/>
        </p:nvSpPr>
        <p:spPr>
          <a:xfrm>
            <a:off x="3991824" y="8986352"/>
            <a:ext cx="13954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5029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Big Shoulders"/>
                <a:ea typeface="Big Shoulders"/>
                <a:cs typeface="Big Shoulders"/>
                <a:sym typeface="Big Shoulders"/>
              </a:rPr>
              <a:t>Login page</a:t>
            </a:r>
            <a:endParaRPr b="1" sz="3000">
              <a:latin typeface="Big Shoulders"/>
              <a:ea typeface="Big Shoulders"/>
              <a:cs typeface="Big Shoulders"/>
              <a:sym typeface="Big Shoulder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Big Shoulders"/>
              <a:ea typeface="Big Shoulders"/>
              <a:cs typeface="Big Shoulders"/>
              <a:sym typeface="Big Shoulders"/>
            </a:endParaRPr>
          </a:p>
        </p:txBody>
      </p:sp>
      <p:pic>
        <p:nvPicPr>
          <p:cNvPr id="273" name="Google Shape;27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1325" y="3553700"/>
            <a:ext cx="5937325" cy="38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8" name="Google Shape;278;p25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9" name="Google Shape;279;p25"/>
          <p:cNvGrpSpPr/>
          <p:nvPr/>
        </p:nvGrpSpPr>
        <p:grpSpPr>
          <a:xfrm>
            <a:off x="5203993" y="884901"/>
            <a:ext cx="11884896" cy="2249424"/>
            <a:chOff x="0" y="0"/>
            <a:chExt cx="15846529" cy="2999232"/>
          </a:xfrm>
        </p:grpSpPr>
        <p:sp>
          <p:nvSpPr>
            <p:cNvPr id="280" name="Google Shape;280;p25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281" name="Google Shape;281;p25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0" u="none" cap="none" strike="noStrike">
                  <a:solidFill>
                    <a:srgbClr val="000000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Output Screens</a:t>
              </a:r>
              <a:endParaRPr/>
            </a:p>
          </p:txBody>
        </p:sp>
      </p:grpSp>
      <p:sp>
        <p:nvSpPr>
          <p:cNvPr id="282" name="Google Shape;282;p25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283" name="Google Shape;283;p25"/>
          <p:cNvCxnSpPr/>
          <p:nvPr/>
        </p:nvCxnSpPr>
        <p:spPr>
          <a:xfrm flipH="1" rot="10800000">
            <a:off x="4971139" y="1309524"/>
            <a:ext cx="28572" cy="1400179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A blue and red logo  AI-generated content may be incorrect." id="284" name="Google Shape;284;p25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285" name="Google Shape;285;p25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286" name="Google Shape;286;p25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287" name="Google Shape;287;p25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  <p:sp>
        <p:nvSpPr>
          <p:cNvPr id="288" name="Google Shape;288;p25"/>
          <p:cNvSpPr txBox="1"/>
          <p:nvPr/>
        </p:nvSpPr>
        <p:spPr>
          <a:xfrm>
            <a:off x="4581233" y="7714078"/>
            <a:ext cx="12128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Big Shoulders"/>
                <a:ea typeface="Big Shoulders"/>
                <a:cs typeface="Big Shoulders"/>
                <a:sym typeface="Big Shoulders"/>
              </a:rPr>
              <a:t> </a:t>
            </a:r>
            <a:r>
              <a:rPr b="1" lang="en-US" sz="3000">
                <a:latin typeface="Big Shoulders"/>
                <a:ea typeface="Big Shoulders"/>
                <a:cs typeface="Big Shoulders"/>
                <a:sym typeface="Big Shoulders"/>
              </a:rPr>
              <a:t>T</a:t>
            </a:r>
            <a:r>
              <a:rPr b="1" i="0" lang="en-US" sz="3000" u="none" cap="none" strike="noStrike">
                <a:solidFill>
                  <a:srgbClr val="000000"/>
                </a:solidFill>
                <a:latin typeface="Big Shoulders"/>
                <a:ea typeface="Big Shoulders"/>
                <a:cs typeface="Big Shoulders"/>
                <a:sym typeface="Big Shoulders"/>
              </a:rPr>
              <a:t>h</a:t>
            </a:r>
            <a:r>
              <a:rPr b="1" lang="en-US" sz="3000">
                <a:latin typeface="Big Shoulders"/>
                <a:ea typeface="Big Shoulders"/>
                <a:cs typeface="Big Shoulders"/>
                <a:sym typeface="Big Shoulders"/>
              </a:rPr>
              <a:t>is is the main window hear user details were entered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Big Shoulders"/>
              <a:ea typeface="Big Shoulders"/>
              <a:cs typeface="Big Shoulders"/>
              <a:sym typeface="Big Shoulders"/>
            </a:endParaRPr>
          </a:p>
        </p:txBody>
      </p:sp>
      <p:pic>
        <p:nvPicPr>
          <p:cNvPr id="289" name="Google Shape;28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9000" y="3134325"/>
            <a:ext cx="12299902" cy="427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26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5" name="Google Shape;295;p26"/>
          <p:cNvGrpSpPr/>
          <p:nvPr/>
        </p:nvGrpSpPr>
        <p:grpSpPr>
          <a:xfrm>
            <a:off x="5203993" y="884901"/>
            <a:ext cx="11884896" cy="2249424"/>
            <a:chOff x="0" y="0"/>
            <a:chExt cx="15846529" cy="2999232"/>
          </a:xfrm>
        </p:grpSpPr>
        <p:sp>
          <p:nvSpPr>
            <p:cNvPr id="296" name="Google Shape;296;p26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297" name="Google Shape;297;p26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0" u="none" cap="none" strike="noStrike">
                  <a:solidFill>
                    <a:srgbClr val="000000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Output Screens</a:t>
              </a:r>
              <a:endParaRPr/>
            </a:p>
          </p:txBody>
        </p:sp>
      </p:grpSp>
      <p:sp>
        <p:nvSpPr>
          <p:cNvPr id="298" name="Google Shape;298;p26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299" name="Google Shape;299;p26"/>
          <p:cNvCxnSpPr/>
          <p:nvPr/>
        </p:nvCxnSpPr>
        <p:spPr>
          <a:xfrm flipH="1" rot="10800000">
            <a:off x="4971139" y="1309524"/>
            <a:ext cx="28572" cy="1400179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A blue and red logo  AI-generated content may be incorrect." id="300" name="Google Shape;300;p26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301" name="Google Shape;301;p26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302" name="Google Shape;302;p26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303" name="Google Shape;303;p26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  <p:sp>
        <p:nvSpPr>
          <p:cNvPr id="304" name="Google Shape;304;p26"/>
          <p:cNvSpPr txBox="1"/>
          <p:nvPr/>
        </p:nvSpPr>
        <p:spPr>
          <a:xfrm>
            <a:off x="4581233" y="7714078"/>
            <a:ext cx="1212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Big Shoulders"/>
                <a:ea typeface="Big Shoulders"/>
                <a:cs typeface="Big Shoulders"/>
                <a:sym typeface="Big Shoulders"/>
              </a:rPr>
              <a:t> The visitors data where stored in PDF with their photo</a:t>
            </a:r>
            <a:endParaRPr/>
          </a:p>
        </p:txBody>
      </p:sp>
      <p:pic>
        <p:nvPicPr>
          <p:cNvPr id="305" name="Google Shape;30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3711" y="3134325"/>
            <a:ext cx="8363499" cy="4274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0" name="Google Shape;310;p27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2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2" name="Google Shape;312;p27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313" name="Google Shape;313;p27"/>
          <p:cNvGrpSpPr/>
          <p:nvPr/>
        </p:nvGrpSpPr>
        <p:grpSpPr>
          <a:xfrm>
            <a:off x="5203993" y="1182624"/>
            <a:ext cx="11884896" cy="2249424"/>
            <a:chOff x="0" y="0"/>
            <a:chExt cx="15846529" cy="2999232"/>
          </a:xfrm>
        </p:grpSpPr>
        <p:sp>
          <p:nvSpPr>
            <p:cNvPr id="314" name="Google Shape;314;p27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315" name="Google Shape;315;p27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Results &amp; Discussion</a:t>
              </a:r>
              <a:endParaRPr/>
            </a:p>
          </p:txBody>
        </p:sp>
      </p:grpSp>
      <p:sp>
        <p:nvSpPr>
          <p:cNvPr id="316" name="Google Shape;316;p27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317" name="Google Shape;317;p27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27"/>
          <p:cNvSpPr txBox="1"/>
          <p:nvPr/>
        </p:nvSpPr>
        <p:spPr>
          <a:xfrm>
            <a:off x="4498979" y="3451098"/>
            <a:ext cx="11793600" cy="55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system successfully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registers visitor details, captures photos, and generates QR codes</a:t>
            </a: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identification.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results match the expected output by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accurately recording visitor entry and exit time</a:t>
            </a: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QR scanning.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system shows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performance with quick data processing and organized visitor records</a:t>
            </a: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Some challenges such as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access, QR scanning, and data storage</a:t>
            </a: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were handled using proper programming techniques.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9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319" name="Google Shape;319;p27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320" name="Google Shape;320;p27"/>
          <p:cNvGrpSpPr/>
          <p:nvPr/>
        </p:nvGrpSpPr>
        <p:grpSpPr>
          <a:xfrm>
            <a:off x="849678" y="884901"/>
            <a:ext cx="2816986" cy="8419853"/>
            <a:chOff x="0" y="0"/>
            <a:chExt cx="3755980" cy="11226472"/>
          </a:xfrm>
        </p:grpSpPr>
        <p:sp>
          <p:nvSpPr>
            <p:cNvPr id="321" name="Google Shape;321;p27"/>
            <p:cNvSpPr/>
            <p:nvPr/>
          </p:nvSpPr>
          <p:spPr>
            <a:xfrm>
              <a:off x="0" y="0"/>
              <a:ext cx="3755980" cy="11226472"/>
            </a:xfrm>
            <a:custGeom>
              <a:rect b="b" l="l" r="r" t="t"/>
              <a:pathLst>
                <a:path extrusionOk="0" h="11226472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2"/>
                  </a:lnTo>
                  <a:lnTo>
                    <a:pt x="0" y="1122647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322" name="Google Shape;322;p27"/>
            <p:cNvSpPr txBox="1"/>
            <p:nvPr/>
          </p:nvSpPr>
          <p:spPr>
            <a:xfrm>
              <a:off x="0" y="66675"/>
              <a:ext cx="3755974" cy="11159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C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28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2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9" name="Google Shape;329;p28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330" name="Google Shape;330;p28"/>
          <p:cNvGrpSpPr/>
          <p:nvPr/>
        </p:nvGrpSpPr>
        <p:grpSpPr>
          <a:xfrm>
            <a:off x="5203993" y="1182624"/>
            <a:ext cx="11884896" cy="2249424"/>
            <a:chOff x="0" y="0"/>
            <a:chExt cx="15846529" cy="2999232"/>
          </a:xfrm>
        </p:grpSpPr>
        <p:sp>
          <p:nvSpPr>
            <p:cNvPr id="331" name="Google Shape;331;p28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332" name="Google Shape;332;p28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Conclusion &amp; Future Enhancement</a:t>
              </a:r>
              <a:endParaRPr/>
            </a:p>
          </p:txBody>
        </p:sp>
      </p:grpSp>
      <p:sp>
        <p:nvSpPr>
          <p:cNvPr id="333" name="Google Shape;333;p28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334" name="Google Shape;334;p28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28"/>
          <p:cNvSpPr txBox="1"/>
          <p:nvPr/>
        </p:nvSpPr>
        <p:spPr>
          <a:xfrm>
            <a:off x="4796511" y="3099181"/>
            <a:ext cx="11793600" cy="5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49" u="none" cap="none" strike="noStrike">
                <a:solidFill>
                  <a:srgbClr val="9FC5E8"/>
                </a:solidFill>
                <a:latin typeface="Arimo"/>
                <a:ea typeface="Arimo"/>
                <a:cs typeface="Arimo"/>
                <a:sym typeface="Arimo"/>
              </a:rPr>
              <a:t>Conclusion:</a:t>
            </a:r>
            <a:endParaRPr>
              <a:solidFill>
                <a:srgbClr val="9FC5E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system helps to </a:t>
            </a:r>
            <a:r>
              <a:rPr b="1"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 and monitor visitor entry and exit automatically</a:t>
            </a:r>
            <a:r>
              <a:rPr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It demonstrates the use of </a:t>
            </a:r>
            <a:r>
              <a:rPr b="1"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programming to build a practical security management system</a:t>
            </a:r>
            <a:r>
              <a:rPr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04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304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49" u="none" cap="none" strike="noStrike">
                <a:solidFill>
                  <a:srgbClr val="9FC5E8"/>
                </a:solidFill>
                <a:latin typeface="Arimo"/>
                <a:ea typeface="Arimo"/>
                <a:cs typeface="Arimo"/>
                <a:sym typeface="Arimo"/>
              </a:rPr>
              <a:t>Future Enhancements:</a:t>
            </a:r>
            <a:endParaRPr>
              <a:solidFill>
                <a:srgbClr val="9FC5E8"/>
              </a:solidFill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Add </a:t>
            </a:r>
            <a:r>
              <a:rPr b="1"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 recognition for better visitor identification</a:t>
            </a:r>
            <a:r>
              <a:rPr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Connect the system with a </a:t>
            </a:r>
            <a:r>
              <a:rPr b="1"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for long-term record storage</a:t>
            </a:r>
            <a:r>
              <a:rPr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Improve the system with </a:t>
            </a:r>
            <a:r>
              <a:rPr b="1"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notification or alert features</a:t>
            </a:r>
            <a:r>
              <a:rPr lang="en-US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96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4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336" name="Google Shape;336;p28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337" name="Google Shape;337;p28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338" name="Google Shape;338;p28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339" name="Google Shape;339;p28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4" name="Google Shape;344;p29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46" name="Google Shape;346;p29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347" name="Google Shape;347;p29"/>
          <p:cNvGrpSpPr/>
          <p:nvPr/>
        </p:nvGrpSpPr>
        <p:grpSpPr>
          <a:xfrm>
            <a:off x="5203993" y="1182624"/>
            <a:ext cx="11884896" cy="2249424"/>
            <a:chOff x="0" y="0"/>
            <a:chExt cx="15846529" cy="2999232"/>
          </a:xfrm>
        </p:grpSpPr>
        <p:sp>
          <p:nvSpPr>
            <p:cNvPr id="348" name="Google Shape;348;p29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349" name="Google Shape;349;p29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References / Acknowledgement</a:t>
              </a:r>
              <a:endParaRPr/>
            </a:p>
          </p:txBody>
        </p:sp>
      </p:grpSp>
      <p:sp>
        <p:nvSpPr>
          <p:cNvPr id="350" name="Google Shape;350;p29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351" name="Google Shape;351;p29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29"/>
          <p:cNvSpPr txBox="1"/>
          <p:nvPr/>
        </p:nvSpPr>
        <p:spPr>
          <a:xfrm>
            <a:off x="4572009" y="3031011"/>
            <a:ext cx="11793600" cy="8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FC5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9FC5E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b="1" i="0" lang="en-US" sz="2799" u="none" cap="none" strike="noStrike">
                <a:solidFill>
                  <a:srgbClr val="9FC5E8"/>
                </a:solidFill>
                <a:latin typeface="Arimo"/>
                <a:ea typeface="Arimo"/>
                <a:cs typeface="Arimo"/>
                <a:sym typeface="Arimo"/>
              </a:rPr>
              <a:t>References:</a:t>
            </a:r>
            <a:endParaRPr>
              <a:solidFill>
                <a:srgbClr val="9FC5E8"/>
              </a:solidFill>
            </a:endParaRPr>
          </a:p>
          <a:p>
            <a:pPr indent="0" lvl="0" marL="9144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Y. Daniel Liang – </a:t>
            </a:r>
            <a:r>
              <a:rPr i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Java Programming</a:t>
            </a:r>
            <a:endParaRPr i="1"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Cay S. Horstmann – </a:t>
            </a:r>
            <a:r>
              <a:rPr i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Java Fundamentals</a:t>
            </a:r>
            <a:endParaRPr i="1"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Oracle Java Tutorials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Javatpoint (Java programming concepts and examples)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GeeksforGeeks (Programming tutorials and code references)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9FC5E8"/>
                </a:solidFill>
                <a:latin typeface="Arimo"/>
                <a:ea typeface="Arimo"/>
                <a:cs typeface="Arimo"/>
                <a:sym typeface="Arimo"/>
              </a:rPr>
              <a:t>Acknowledgement:</a:t>
            </a:r>
            <a:endParaRPr>
              <a:solidFill>
                <a:srgbClr val="9FC5E8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would like to thank our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</a:t>
            </a: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providing continuous support and valuable suggestions during the development of the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Visitor Entry Logging and Security Monitoring System</a:t>
            </a: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We also extend our gratitude to the </a:t>
            </a: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members and our institution</a:t>
            </a: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their encouragement and guidance. Finally, we thank all those who directly or indirectly contributed to the successful completion of this project.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353" name="Google Shape;353;p29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354" name="Google Shape;354;p29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355" name="Google Shape;355;p29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356" name="Google Shape;356;p29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30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3" name="Google Shape;363;p30"/>
          <p:cNvSpPr/>
          <p:nvPr/>
        </p:nvSpPr>
        <p:spPr>
          <a:xfrm>
            <a:off x="491319" y="482594"/>
            <a:ext cx="17326736" cy="9321831"/>
          </a:xfrm>
          <a:custGeom>
            <a:rect b="b" l="l" r="r" t="t"/>
            <a:pathLst>
              <a:path extrusionOk="0" h="12429109" w="23102315">
                <a:moveTo>
                  <a:pt x="0" y="0"/>
                </a:moveTo>
                <a:lnTo>
                  <a:pt x="23102315" y="0"/>
                </a:lnTo>
                <a:lnTo>
                  <a:pt x="23102315" y="12429109"/>
                </a:lnTo>
                <a:lnTo>
                  <a:pt x="0" y="12429109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grpSp>
        <p:nvGrpSpPr>
          <p:cNvPr id="364" name="Google Shape;364;p30"/>
          <p:cNvGrpSpPr/>
          <p:nvPr/>
        </p:nvGrpSpPr>
        <p:grpSpPr>
          <a:xfrm>
            <a:off x="1536192" y="877824"/>
            <a:ext cx="15494508" cy="2249424"/>
            <a:chOff x="0" y="0"/>
            <a:chExt cx="20659344" cy="2999232"/>
          </a:xfrm>
        </p:grpSpPr>
        <p:sp>
          <p:nvSpPr>
            <p:cNvPr id="365" name="Google Shape;365;p30"/>
            <p:cNvSpPr/>
            <p:nvPr/>
          </p:nvSpPr>
          <p:spPr>
            <a:xfrm>
              <a:off x="0" y="0"/>
              <a:ext cx="20659342" cy="2999232"/>
            </a:xfrm>
            <a:custGeom>
              <a:rect b="b" l="l" r="r" t="t"/>
              <a:pathLst>
                <a:path extrusionOk="0" h="2999232" w="20659342">
                  <a:moveTo>
                    <a:pt x="0" y="0"/>
                  </a:moveTo>
                  <a:lnTo>
                    <a:pt x="20659342" y="0"/>
                  </a:lnTo>
                  <a:lnTo>
                    <a:pt x="20659342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4214" l="0" r="0" t="-84214"/>
              </a:stretch>
            </a:blipFill>
            <a:ln>
              <a:noFill/>
            </a:ln>
          </p:spPr>
        </p:sp>
        <p:sp>
          <p:nvSpPr>
            <p:cNvPr id="366" name="Google Shape;366;p30"/>
            <p:cNvSpPr txBox="1"/>
            <p:nvPr/>
          </p:nvSpPr>
          <p:spPr>
            <a:xfrm>
              <a:off x="0" y="152400"/>
              <a:ext cx="20659344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Thank You</a:t>
              </a:r>
              <a:endParaRPr/>
            </a:p>
          </p:txBody>
        </p:sp>
      </p:grpSp>
      <p:cxnSp>
        <p:nvCxnSpPr>
          <p:cNvPr id="367" name="Google Shape;367;p30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30"/>
          <p:cNvSpPr txBox="1"/>
          <p:nvPr/>
        </p:nvSpPr>
        <p:spPr>
          <a:xfrm>
            <a:off x="1581912" y="3484245"/>
            <a:ext cx="15403200" cy="3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9">
                <a:solidFill>
                  <a:srgbClr val="FFFFFF"/>
                </a:solidFill>
                <a:latin typeface="Shrikhand"/>
                <a:ea typeface="Shrikhand"/>
                <a:cs typeface="Shrikhand"/>
                <a:sym typeface="Shrikhand"/>
              </a:rPr>
              <a:t>In conclusion, the project successfully shows how automation can transform traditional visitor management into a secure, efficient, and organized digital system.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